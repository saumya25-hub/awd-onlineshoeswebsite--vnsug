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6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6ECEB-64A7-4782-8AC3-66EB0FE8E8AD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0FDC-19FB-440D-8589-D2F6179C5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622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6ECEB-64A7-4782-8AC3-66EB0FE8E8AD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0FDC-19FB-440D-8589-D2F6179C5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9747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6ECEB-64A7-4782-8AC3-66EB0FE8E8AD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0FDC-19FB-440D-8589-D2F6179C5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5859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6ECEB-64A7-4782-8AC3-66EB0FE8E8AD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0FDC-19FB-440D-8589-D2F6179C5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7964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6ECEB-64A7-4782-8AC3-66EB0FE8E8AD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0FDC-19FB-440D-8589-D2F6179C5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5998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6ECEB-64A7-4782-8AC3-66EB0FE8E8AD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0FDC-19FB-440D-8589-D2F6179C5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6570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6ECEB-64A7-4782-8AC3-66EB0FE8E8AD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0FDC-19FB-440D-8589-D2F6179C5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6653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6ECEB-64A7-4782-8AC3-66EB0FE8E8AD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0FDC-19FB-440D-8589-D2F6179C5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947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6ECEB-64A7-4782-8AC3-66EB0FE8E8AD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0FDC-19FB-440D-8589-D2F6179C5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4986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6ECEB-64A7-4782-8AC3-66EB0FE8E8AD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0FDC-19FB-440D-8589-D2F6179C5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6312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6ECEB-64A7-4782-8AC3-66EB0FE8E8AD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7D0FDC-19FB-440D-8589-D2F6179C5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5133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36ECEB-64A7-4782-8AC3-66EB0FE8E8AD}" type="datetimeFigureOut">
              <a:rPr lang="en-US" smtClean="0"/>
              <a:t>9/20/2026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7D0FDC-19FB-440D-8589-D2F6179C58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388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90002" y="2229490"/>
            <a:ext cx="11053944" cy="1363321"/>
          </a:xfrm>
        </p:spPr>
        <p:txBody>
          <a:bodyPr/>
          <a:lstStyle/>
          <a:p>
            <a:pPr algn="ctr">
              <a:defRPr sz="2800" b="1">
                <a:solidFill>
                  <a:srgbClr val="065F46"/>
                </a:solidFill>
                <a:latin typeface="Times New Roman"/>
              </a:defRPr>
            </a:pPr>
            <a:r>
              <a:t>ONLINE SHOES WEBSITE</a:t>
            </a:r>
            <a:br/>
            <a:r>
              <a:t>(StepUp Footwear)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90002" y="5246703"/>
            <a:ext cx="3065092" cy="1444653"/>
          </a:xfrm>
        </p:spPr>
        <p:txBody>
          <a:bodyPr>
            <a:norm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</a:pPr>
            <a:r>
              <a:rPr sz="1400" b="1">
                <a:solidFill>
                  <a:srgbClr val="065F46"/>
                </a:solidFill>
                <a:latin typeface="Times New Roman"/>
              </a:rPr>
              <a:t>Submitted by:</a:t>
            </a:r>
          </a:p>
          <a:p>
            <a:r>
              <a:rPr sz="1500" b="0">
                <a:solidFill>
                  <a:srgbClr val="1F2937"/>
                </a:solidFill>
                <a:latin typeface="Times New Roman"/>
              </a:rPr>
              <a:t>Shubham Ashish Pancholi (3382)</a:t>
            </a:r>
          </a:p>
          <a:p>
            <a:r>
              <a:rPr sz="1500" b="0">
                <a:solidFill>
                  <a:srgbClr val="1F2937"/>
                </a:solidFill>
                <a:latin typeface="Times New Roman"/>
              </a:rPr>
              <a:t>Saumya Chaudhari (3235)</a:t>
            </a:r>
          </a:p>
          <a:p>
            <a:r>
              <a:rPr sz="1500" b="0">
                <a:solidFill>
                  <a:srgbClr val="1F2937"/>
                </a:solidFill>
                <a:latin typeface="Times New Roman"/>
              </a:rPr>
              <a:t>Vrushank Changawala (3234)</a:t>
            </a:r>
          </a:p>
          <a:p>
            <a:r>
              <a:rPr sz="1500" b="1">
                <a:solidFill>
                  <a:srgbClr val="1F2937"/>
                </a:solidFill>
                <a:latin typeface="Times New Roman"/>
              </a:rPr>
              <a:t>Group No.: 129</a:t>
            </a:r>
          </a:p>
        </p:txBody>
      </p:sp>
      <p:sp>
        <p:nvSpPr>
          <p:cNvPr id="5" name="Subtitle 2"/>
          <p:cNvSpPr txBox="1">
            <a:spLocks/>
          </p:cNvSpPr>
          <p:nvPr/>
        </p:nvSpPr>
        <p:spPr>
          <a:xfrm>
            <a:off x="8478854" y="5614587"/>
            <a:ext cx="3065092" cy="1076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>
              <a:lnSpc>
                <a:spcPct val="120000"/>
              </a:lnSpc>
              <a:spcBef>
                <a:spcPts val="0"/>
              </a:spcBef>
            </a:pPr>
            <a:r>
              <a:rPr sz="1400" b="1">
                <a:solidFill>
                  <a:srgbClr val="065F46"/>
                </a:solidFill>
                <a:latin typeface="Times New Roman"/>
              </a:rPr>
              <a:t>Project guided by:</a:t>
            </a:r>
          </a:p>
          <a:p>
            <a:pPr algn="r"/>
            <a:r>
              <a:rPr sz="2000" b="1">
                <a:solidFill>
                  <a:srgbClr val="1F2937"/>
                </a:solidFill>
                <a:latin typeface="Times New Roman"/>
              </a:rPr>
              <a:t>Minal Desai</a:t>
            </a:r>
          </a:p>
          <a:p>
            <a:pPr algn="r"/>
            <a:r>
              <a:rPr sz="1400" b="0">
                <a:solidFill>
                  <a:srgbClr val="4B5563"/>
                </a:solidFill>
                <a:latin typeface="Times New Roman"/>
              </a:rPr>
              <a:t>Assistant Professor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9B7C953-5A96-981C-F1BE-E585875DAFE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629" r="2296" b="10804"/>
          <a:stretch>
            <a:fillRect/>
          </a:stretch>
        </p:blipFill>
        <p:spPr>
          <a:xfrm>
            <a:off x="2022548" y="150216"/>
            <a:ext cx="8352000" cy="2041424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4DE66F98-ACCA-1857-9E63-8CB44B61FB1D}"/>
              </a:ext>
            </a:extLst>
          </p:cNvPr>
          <p:cNvSpPr txBox="1">
            <a:spLocks/>
          </p:cNvSpPr>
          <p:nvPr/>
        </p:nvSpPr>
        <p:spPr>
          <a:xfrm>
            <a:off x="490002" y="4365044"/>
            <a:ext cx="11053944" cy="47731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defRPr sz="2200" b="1">
                <a:solidFill>
                  <a:srgbClr val="1F2937"/>
                </a:solidFill>
                <a:latin typeface="Times New Roman"/>
              </a:defRPr>
            </a:pPr>
            <a:r>
              <a:t>Subject: 505 Advance Web Designing (AWD)</a:t>
            </a:r>
          </a:p>
        </p:txBody>
      </p:sp>
    </p:spTree>
    <p:extLst>
      <p:ext uri="{BB962C8B-B14F-4D97-AF65-F5344CB8AC3E}">
        <p14:creationId xmlns:p14="http://schemas.microsoft.com/office/powerpoint/2010/main" val="879649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83114"/>
            <a:ext cx="10515600" cy="1325563"/>
          </a:xfrm>
        </p:spPr>
        <p:txBody>
          <a:bodyPr/>
          <a:lstStyle/>
          <a:p>
            <a:pPr>
              <a:defRPr sz="3000" b="1">
                <a:solidFill>
                  <a:srgbClr val="065F46"/>
                </a:solidFill>
                <a:latin typeface="Times New Roman"/>
              </a:defRPr>
            </a:pPr>
            <a:r>
              <a:t>Content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96411"/>
            <a:ext cx="10515600" cy="5443671"/>
          </a:xfrm>
        </p:spPr>
        <p:txBody>
          <a:bodyPr>
            <a:noAutofit/>
          </a:bodyPr>
          <a:lstStyle/>
          <a:p>
            <a:pPr fontAlgn="base">
              <a:lnSpc>
                <a:spcPct val="120000"/>
              </a:lnSpc>
              <a:defRPr sz="2100">
                <a:solidFill>
                  <a:srgbClr val="1F2937"/>
                </a:solidFill>
                <a:latin typeface="Times New Roman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 fontAlgn="base">
              <a:lnSpc>
                <a:spcPct val="120000"/>
              </a:lnSpc>
              <a:defRPr sz="2100">
                <a:solidFill>
                  <a:srgbClr val="1F2937"/>
                </a:solidFill>
                <a:latin typeface="Times New Roman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fontAlgn="base">
              <a:lnSpc>
                <a:spcPct val="120000"/>
              </a:lnSpc>
              <a:defRPr sz="2100">
                <a:solidFill>
                  <a:srgbClr val="1F2937"/>
                </a:solidFill>
                <a:latin typeface="Times New Roman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&amp; Objectives</a:t>
            </a:r>
          </a:p>
          <a:p>
            <a:pPr fontAlgn="base">
              <a:lnSpc>
                <a:spcPct val="120000"/>
              </a:lnSpc>
              <a:defRPr sz="2100">
                <a:solidFill>
                  <a:srgbClr val="1F2937"/>
                </a:solidFill>
                <a:latin typeface="Times New Roman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Dictionary</a:t>
            </a:r>
          </a:p>
          <a:p>
            <a:pPr fontAlgn="base">
              <a:lnSpc>
                <a:spcPct val="120000"/>
              </a:lnSpc>
              <a:defRPr sz="2100">
                <a:solidFill>
                  <a:srgbClr val="1F2937"/>
                </a:solidFill>
                <a:latin typeface="Times New Roman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 Diagram</a:t>
            </a:r>
          </a:p>
          <a:p>
            <a:pPr fontAlgn="base">
              <a:lnSpc>
                <a:spcPct val="120000"/>
              </a:lnSpc>
              <a:defRPr sz="2100">
                <a:solidFill>
                  <a:srgbClr val="1F2937"/>
                </a:solidFill>
                <a:latin typeface="Times New Roman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</a:p>
          <a:p>
            <a:pPr fontAlgn="base">
              <a:lnSpc>
                <a:spcPct val="120000"/>
              </a:lnSpc>
              <a:defRPr sz="2100">
                <a:solidFill>
                  <a:srgbClr val="1F2937"/>
                </a:solidFill>
                <a:latin typeface="Times New Roman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Interface</a:t>
            </a:r>
          </a:p>
          <a:p>
            <a:pPr fontAlgn="base">
              <a:lnSpc>
                <a:spcPct val="120000"/>
              </a:lnSpc>
              <a:defRPr sz="2100">
                <a:solidFill>
                  <a:srgbClr val="1F2937"/>
                </a:solidFill>
                <a:latin typeface="Times New Roman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 &amp; System Enhancements</a:t>
            </a:r>
          </a:p>
          <a:p>
            <a:pPr fontAlgn="base">
              <a:lnSpc>
                <a:spcPct val="120000"/>
              </a:lnSpc>
              <a:defRPr sz="2100">
                <a:solidFill>
                  <a:srgbClr val="1F2937"/>
                </a:solidFill>
                <a:latin typeface="Times New Roman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fontAlgn="base">
              <a:lnSpc>
                <a:spcPct val="120000"/>
              </a:lnSpc>
              <a:defRPr sz="2100">
                <a:solidFill>
                  <a:srgbClr val="1F2937"/>
                </a:solidFill>
                <a:latin typeface="Times New Roman"/>
              </a:defRPr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841248" y="6327648"/>
            <a:ext cx="10515600" cy="13716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412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Times New Roman"/>
              </a:rPr>
              <a:t>Page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364224"/>
            <a:ext cx="5788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Times New Roman"/>
              </a:rPr>
              <a:t>Sascma English Medium College BCA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708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F2937"/>
                </a:solidFill>
                <a:latin typeface="Times New Roman"/>
              </a:rPr>
              <a:t>Group No.: 129</a:t>
            </a:r>
          </a:p>
        </p:txBody>
      </p:sp>
    </p:spTree>
    <p:extLst>
      <p:ext uri="{BB962C8B-B14F-4D97-AF65-F5344CB8AC3E}">
        <p14:creationId xmlns:p14="http://schemas.microsoft.com/office/powerpoint/2010/main" val="14485047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3657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5F46"/>
                </a:solidFill>
                <a:latin typeface="Times New Roman"/>
              </a:rPr>
              <a:t>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170432"/>
            <a:ext cx="10515600" cy="36576"/>
          </a:xfrm>
          <a:prstGeom prst="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65F46"/>
                </a:solidFill>
                <a:latin typeface="Times New Roman"/>
              </a:rPr>
              <a:t>Project Definition: </a:t>
            </a:r>
            <a:r>
              <a:rPr sz="1800" b="0">
                <a:solidFill>
                  <a:srgbClr val="1F2937"/>
                </a:solidFill>
                <a:latin typeface="Times New Roman"/>
              </a:rPr>
              <a:t>A modern, full-stack footwear e-commerce Single Page Application (SPA) built using the MERN stack for BCA Semester 5.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65F46"/>
                </a:solidFill>
                <a:latin typeface="Times New Roman"/>
              </a:rPr>
              <a:t>Footwear Domain Focus: </a:t>
            </a:r>
            <a:r>
              <a:rPr sz="1800" b="0">
                <a:solidFill>
                  <a:srgbClr val="1F2937"/>
                </a:solidFill>
                <a:latin typeface="Times New Roman"/>
              </a:rPr>
              <a:t>Dedicated online shoe store offering top athletic and casual footwear brands such as Nike, Adidas, Puma, Reebok, Skechers, and Converse.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65F46"/>
                </a:solidFill>
                <a:latin typeface="Times New Roman"/>
              </a:rPr>
              <a:t>Footwear Sizing Solution: </a:t>
            </a:r>
            <a:r>
              <a:rPr sz="1800" b="0">
                <a:solidFill>
                  <a:srgbClr val="1F2937"/>
                </a:solidFill>
                <a:latin typeface="Times New Roman"/>
              </a:rPr>
              <a:t>Solves the primary footwear shopping challenge by providing explicit UK size selection (UK 6 to 11) with dynamic stock validation.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65F46"/>
                </a:solidFill>
                <a:latin typeface="Times New Roman"/>
              </a:rPr>
              <a:t>MERN Architecture: </a:t>
            </a:r>
            <a:r>
              <a:rPr sz="1800" b="0">
                <a:solidFill>
                  <a:srgbClr val="1F2937"/>
                </a:solidFill>
                <a:latin typeface="Times New Roman"/>
              </a:rPr>
              <a:t>Combines React 18 &amp; Vite frontend with Node.js/Express REST APIs and MongoDB document database.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65F46"/>
                </a:solidFill>
                <a:latin typeface="Times New Roman"/>
              </a:rPr>
              <a:t>Dual Operation Modules: </a:t>
            </a:r>
            <a:r>
              <a:rPr sz="1800" b="0">
                <a:solidFill>
                  <a:srgbClr val="1F2937"/>
                </a:solidFill>
                <a:latin typeface="Times New Roman"/>
              </a:rPr>
              <a:t>Customer Storefront (catalog search, category filters, size selection, CartContext, Razorpay payment) and Admin Back-Office (product CRUD, orders status, reviews).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6327648"/>
            <a:ext cx="10515600" cy="13716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Times New Roman"/>
              </a:rPr>
              <a:t>Page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64224"/>
            <a:ext cx="5788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Times New Roman"/>
              </a:rPr>
              <a:t>Sascma English Medium College BCA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708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F2937"/>
                </a:solidFill>
                <a:latin typeface="Times New Roman"/>
              </a:rPr>
              <a:t>Group No.: 129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3657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5F46"/>
                </a:solidFill>
                <a:latin typeface="Times New Roman"/>
              </a:rPr>
              <a:t>Introduction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170432"/>
            <a:ext cx="10515600" cy="36576"/>
          </a:xfrm>
          <a:prstGeom prst="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65F46"/>
                </a:solidFill>
                <a:latin typeface="Times New Roman"/>
              </a:rPr>
              <a:t>Traditional Footwear Retail Issues: </a:t>
            </a:r>
            <a:r>
              <a:rPr sz="1800" b="0">
                <a:solidFill>
                  <a:srgbClr val="1F2937"/>
                </a:solidFill>
                <a:latin typeface="Times New Roman"/>
              </a:rPr>
              <a:t>Shoppers travel to crowded physical shoe stores, spend hours searching racks, and often face disappointment when their specific shoe size is out of stock.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65F46"/>
                </a:solidFill>
                <a:latin typeface="Times New Roman"/>
              </a:rPr>
              <a:t>Manual Store Overhead: </a:t>
            </a:r>
            <a:r>
              <a:rPr sz="1800" b="0">
                <a:solidFill>
                  <a:srgbClr val="1F2937"/>
                </a:solidFill>
                <a:latin typeface="Times New Roman"/>
              </a:rPr>
              <a:t>Physical footwear retailers struggle with paper stock registers, manual bill calculations, and delayed customer feedback handling.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65F46"/>
                </a:solidFill>
                <a:latin typeface="Times New Roman"/>
              </a:rPr>
              <a:t>Proposed MERN Solution: </a:t>
            </a:r>
            <a:r>
              <a:rPr sz="1800" b="0">
                <a:solidFill>
                  <a:srgbClr val="1F2937"/>
                </a:solidFill>
                <a:latin typeface="Times New Roman"/>
              </a:rPr>
              <a:t>StepUp Footwear offers centralized real-time catalog visibility, instant shoe size availability, and automated subtotal/discount calculations.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65F46"/>
                </a:solidFill>
                <a:latin typeface="Times New Roman"/>
              </a:rPr>
              <a:t>Single Page Application (SPA): </a:t>
            </a:r>
            <a:r>
              <a:rPr sz="1800" b="0">
                <a:solidFill>
                  <a:srgbClr val="1F2937"/>
                </a:solidFill>
                <a:latin typeface="Times New Roman"/>
              </a:rPr>
              <a:t>Built using React 18 and react-router-dom (v6), enabling instantaneous page transitions without full browser reloads.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65F46"/>
                </a:solidFill>
                <a:latin typeface="Times New Roman"/>
              </a:rPr>
              <a:t>Academic Relevance: </a:t>
            </a:r>
            <a:r>
              <a:rPr sz="1800" b="0">
                <a:solidFill>
                  <a:srgbClr val="1F2937"/>
                </a:solidFill>
                <a:latin typeface="Times New Roman"/>
              </a:rPr>
              <a:t>Demonstrates mastery in Advance Web Designing (AWD) concepts: reusable React components, Context API state management, RESTful routing, and NoSQL modeling.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6327648"/>
            <a:ext cx="10515600" cy="13716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Times New Roman"/>
              </a:rPr>
              <a:t>Page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64224"/>
            <a:ext cx="5788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Times New Roman"/>
              </a:rPr>
              <a:t>Sascma English Medium College BCA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708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F2937"/>
                </a:solidFill>
                <a:latin typeface="Times New Roman"/>
              </a:rPr>
              <a:t>Group No.: 129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3657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5F46"/>
                </a:solidFill>
                <a:latin typeface="Times New Roman"/>
              </a:rPr>
              <a:t>Scope &amp; Objectives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170432"/>
            <a:ext cx="10515600" cy="36576"/>
          </a:xfrm>
          <a:prstGeom prst="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37160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65F46"/>
                </a:solidFill>
                <a:latin typeface="Times New Roman"/>
              </a:rPr>
              <a:t>PROJECT SCOPE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• Customer authentication with security CAPTCHA and JWT token storage.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• Footwear catalog with real-time brand filtering and category classification.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• Shoe details page featuring interactive UK size selection (Sizes 6 to 11).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• Global client state management using React Context (AuthContext &amp; CartContext).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• Seamless order checkout with shipping address validation and Razorpay modal.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• Customer star ratings (1-5 stars), written reviews, and Contact Us messaging.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• Comprehensive Admin back-office for managing shoes, categories, brands, and orders.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6208" y="137160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65F46"/>
                </a:solidFill>
                <a:latin typeface="Times New Roman"/>
              </a:rPr>
              <a:t>PROJECT OBJECTIVES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• To build a responsive, high-performance footwear shopping SPA using React and Vite.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• To eliminate size-ordering confusion by requiring customers to choose UK shoe sizes.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• To implement secure RESTful APIs using Express.js, JWT tokens, and Bcrypt hashing.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• To model flexible, document-oriented footwear collections in MongoDB with Mongoose.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• To integrate Razorpay Standard Checkout in test mode for realistic payment simulation.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• To apply advanced modern web development practices taught in BCA Semester 5.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6327648"/>
            <a:ext cx="10515600" cy="13716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Times New Roman"/>
              </a:rPr>
              <a:t>Page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364224"/>
            <a:ext cx="5788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Times New Roman"/>
              </a:rPr>
              <a:t>Sascma English Medium College BCA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708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F2937"/>
                </a:solidFill>
                <a:latin typeface="Times New Roman"/>
              </a:rPr>
              <a:t>Group No.: 129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3657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5F46"/>
                </a:solidFill>
                <a:latin typeface="Times New Roman"/>
              </a:rPr>
              <a:t>Environment &amp; 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170432"/>
            <a:ext cx="10515600" cy="36576"/>
          </a:xfrm>
          <a:prstGeom prst="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371600"/>
            <a:ext cx="5120640" cy="46269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065F46"/>
                </a:solidFill>
                <a:latin typeface="Times New Roman"/>
              </a:rPr>
              <a:t>HARDWARE &amp; RUNTIME ENVIRONMENT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65F46"/>
                </a:solidFill>
                <a:latin typeface="Times New Roman"/>
              </a:rPr>
              <a:t>Development Machine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F2937"/>
                </a:solidFill>
                <a:latin typeface="Times New Roman"/>
              </a:rPr>
              <a:t>Intel Core i3 / AMD Ryzen 3 or higher, minimum 4 GB RAM (8 GB recommended for concurrent Node &amp; Vite), 500 MB storage.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65F46"/>
                </a:solidFill>
                <a:latin typeface="Times New Roman"/>
              </a:rPr>
              <a:t>Operating System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F2937"/>
                </a:solidFill>
                <a:latin typeface="Times New Roman"/>
              </a:rPr>
              <a:t>Microsoft Windows 10 / Windows 11 (64-bit).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65F46"/>
                </a:solidFill>
                <a:latin typeface="Times New Roman"/>
              </a:rPr>
              <a:t>Server Runtime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F2937"/>
                </a:solidFill>
                <a:latin typeface="Times New Roman"/>
              </a:rPr>
              <a:t>Node.js (v18+) asynchronous event-driven JavaScript runtime environment.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65F46"/>
                </a:solidFill>
                <a:latin typeface="Times New Roman"/>
              </a:rPr>
              <a:t>Database Engine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F2937"/>
                </a:solidFill>
                <a:latin typeface="Times New Roman"/>
              </a:rPr>
              <a:t>MongoDB (</a:t>
            </a:r>
            <a:r>
              <a:rPr sz="1400" b="1" dirty="0" err="1">
                <a:solidFill>
                  <a:srgbClr val="1F2937"/>
                </a:solidFill>
                <a:latin typeface="Times New Roman"/>
              </a:rPr>
              <a:t>awd_shoes_db</a:t>
            </a:r>
            <a:r>
              <a:rPr sz="1400" b="1" dirty="0">
                <a:solidFill>
                  <a:srgbClr val="1F2937"/>
                </a:solidFill>
                <a:latin typeface="Times New Roman"/>
              </a:rPr>
              <a:t>) NoSQL document database with Mongoose ODM.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65F46"/>
                </a:solidFill>
                <a:latin typeface="Times New Roman"/>
              </a:rPr>
              <a:t>Development Tools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F2937"/>
                </a:solidFill>
                <a:latin typeface="Times New Roman"/>
              </a:rPr>
              <a:t>Visual Studio Code, MongoDB Compass, Postman REST API client.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6208" y="137160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65F46"/>
                </a:solidFill>
                <a:latin typeface="Times New Roman"/>
              </a:rPr>
              <a:t>SOFTWARE &amp; WEB FRAMEWORKS (MERN)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65F46"/>
                </a:solidFill>
                <a:latin typeface="Times New Roman"/>
              </a:rPr>
              <a:t>Frontend Framework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React 18 with Vite build tool for ultra-fast Hot Module Replacement (HMR).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65F46"/>
                </a:solidFill>
                <a:latin typeface="Times New Roman"/>
              </a:rPr>
              <a:t>Client Routing &amp; State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react-router-dom v6 for client routing; React Context API (AuthContext, CartContext).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65F46"/>
                </a:solidFill>
                <a:latin typeface="Times New Roman"/>
              </a:rPr>
              <a:t>Backend Framework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Express.js RESTful web framework with CORS, Multer, and JWT authentication.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65F46"/>
                </a:solidFill>
                <a:latin typeface="Times New Roman"/>
              </a:rPr>
              <a:t>Payment Gateway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Razorpay Standard Checkout Modal (Test Mode sandbox integration).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6327648"/>
            <a:ext cx="10515600" cy="13716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Times New Roman"/>
              </a:rPr>
              <a:t>Page 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364224"/>
            <a:ext cx="5788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Times New Roman"/>
              </a:rPr>
              <a:t>Sascma English Medium College BCA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708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F2937"/>
                </a:solidFill>
                <a:latin typeface="Times New Roman"/>
              </a:rPr>
              <a:t>Group No.: 129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3657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5F46"/>
                </a:solidFill>
                <a:latin typeface="Times New Roman"/>
              </a:rPr>
              <a:t>Data Dictionary (Part 1)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170432"/>
            <a:ext cx="10515600" cy="36576"/>
          </a:xfrm>
          <a:prstGeom prst="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234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B5563"/>
                </a:solidFill>
                <a:latin typeface="Times New Roman"/>
              </a:rPr>
              <a:t>Database: awd_shoes_db — Collections: users, products, categories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1600200"/>
          <a:ext cx="10515600" cy="440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Collection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Data Type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Constraint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Description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ObjectId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Primary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Unique MongoDB identifier for customer account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users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name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String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Required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Full name of customer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email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Required, Unique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Customer email address for login and notifications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users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password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String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Required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Bcrypt hashed password string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users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role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Dflt 'customer'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User role: 'customer' or 'admin'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users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address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String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Optional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Saved delivery street address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products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ObjectId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Primary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Unique identifier for shoe model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products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name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String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Required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Footwear title (e.g. Air Zoom Pegasus, Ultraboost)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products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brand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Brand manufacturer (Nike, Adidas, Puma, etc.)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products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category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ObjectId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FK (categories)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Reference to footwear category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products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price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Shoe price in Indian Rupees (INR)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products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stock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Number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Required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Available stock quantity in inventory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products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sizes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Array of Num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Supported UK sizes array: [6, 7, 8, 9, 10, 11]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categories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_id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ObjectId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Primary Key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Unique category identifier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categories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Required, Unique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Category name: Running, Casual, Formal, Boots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41248" y="6327648"/>
            <a:ext cx="10515600" cy="13716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Times New Roman"/>
              </a:rPr>
              <a:t>Page 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364224"/>
            <a:ext cx="5788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Times New Roman"/>
              </a:rPr>
              <a:t>Sascma English Medium College BCA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708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F2937"/>
                </a:solidFill>
                <a:latin typeface="Times New Roman"/>
              </a:rPr>
              <a:t>Group No.: 129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3657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5F46"/>
                </a:solidFill>
                <a:latin typeface="Times New Roman"/>
              </a:rPr>
              <a:t>Data Dictionary (Part 2)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170432"/>
            <a:ext cx="10515600" cy="36576"/>
          </a:xfrm>
          <a:prstGeom prst="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23444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4B5563"/>
                </a:solidFill>
                <a:latin typeface="Times New Roman"/>
              </a:rPr>
              <a:t>Database: awd_shoes_db — Collections: orders, reviews, brands, contactmessages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41248" y="160020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Collection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Field Name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Data Type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Constraint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Times New Roman"/>
                        </a:rPr>
                        <a:t>Description</a:t>
                      </a:r>
                    </a:p>
                  </a:txBody>
                  <a:tcPr>
                    <a:solidFill>
                      <a:srgbClr val="065F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_id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ObjectId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Primary Key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Unique MongoDB order identifier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orders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user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ObjectId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FK (users)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Customer account placing order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items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Array of Docs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Subdocuments containing product ID, UK size, quantity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orders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totalAmount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Number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Required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Final calculated invoice total in INR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shippingAddress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Required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Customer delivery street and city address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orders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paymentStatus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String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Dflt 'Pending'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Payment status: Pending / Paid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orders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orderStatus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Dflt 'Pending'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Status: Pending, Processing, Shipped, Delivered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reviews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_id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ObjectId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Primary Key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Unique review identifier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reviews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ObjectId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FK (products)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Reference to reviewed footwear product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reviews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user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ObjectId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FK (users)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Reference to reviewing customer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reviews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rating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Number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Required (1 to 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Customer star rating for comfort and quality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brands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_id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ObjectId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Primary Key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Unique brand partner record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brands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name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String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Required, Unique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Footwear brand name (Nike, Adidas, Puma, etc.)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contactmessages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_id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ObjectId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Primary Key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1F2937"/>
                          </a:solidFill>
                          <a:latin typeface="Times New Roman"/>
                        </a:rPr>
                        <a:t>Customer inquiry message identifier</a:t>
                      </a:r>
                    </a:p>
                  </a:txBody>
                  <a:tcPr>
                    <a:solidFill>
                      <a:srgbClr val="F3F4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841248" y="6327648"/>
            <a:ext cx="10515600" cy="13716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Times New Roman"/>
              </a:rPr>
              <a:t>Page 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364224"/>
            <a:ext cx="5788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Times New Roman"/>
              </a:rPr>
              <a:t>Sascma English Medium College BCA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708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F2937"/>
                </a:solidFill>
                <a:latin typeface="Times New Roman"/>
              </a:rPr>
              <a:t>Group No.: 129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3657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5F46"/>
                </a:solidFill>
                <a:latin typeface="Times New Roman"/>
              </a:rPr>
              <a:t>ER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170432"/>
            <a:ext cx="10515600" cy="36576"/>
          </a:xfrm>
          <a:prstGeom prst="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r_diagram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25880"/>
            <a:ext cx="1051560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0807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4B5563"/>
                </a:solidFill>
                <a:latin typeface="Times New Roman"/>
              </a:rPr>
              <a:t>Figure: Entity-Relationship Diagram for Online Shoes Website (awd_shoes_db Collections)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6327648"/>
            <a:ext cx="10515600" cy="13716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Times New Roman"/>
              </a:rPr>
              <a:t>Page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364224"/>
            <a:ext cx="5788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Times New Roman"/>
              </a:rPr>
              <a:t>Sascma English Medium College BCA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708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F2937"/>
                </a:solidFill>
                <a:latin typeface="Times New Roman"/>
              </a:rPr>
              <a:t>Group No.: 129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3657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5F46"/>
                </a:solidFill>
                <a:latin typeface="Times New Roman"/>
              </a:rPr>
              <a:t>Data Flow Diagram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170432"/>
            <a:ext cx="10515600" cy="36576"/>
          </a:xfrm>
          <a:prstGeom prst="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dfd_diagram_clea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25880"/>
            <a:ext cx="10515600" cy="4663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41248" y="6080760"/>
            <a:ext cx="105156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1">
                <a:solidFill>
                  <a:srgbClr val="4B5563"/>
                </a:solidFill>
                <a:latin typeface="Times New Roman"/>
              </a:rPr>
              <a:t>Figure: DFD Level 0 (Context Diagram) and Level 1 Functional Data Flows across React SPA, Node REST APIs, and MongoDB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6327648"/>
            <a:ext cx="10515600" cy="13716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Times New Roman"/>
              </a:rPr>
              <a:t>Page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364224"/>
            <a:ext cx="5788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Times New Roman"/>
              </a:rPr>
              <a:t>Sascma English Medium College BCA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708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F2937"/>
                </a:solidFill>
                <a:latin typeface="Times New Roman"/>
              </a:rPr>
              <a:t>Group No.: 129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3657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5F46"/>
                </a:solidFill>
                <a:latin typeface="Times New Roman"/>
              </a:rPr>
              <a:t>User Interface: Home Page &amp; Footwear Catalog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170432"/>
            <a:ext cx="10515600" cy="36576"/>
          </a:xfrm>
          <a:prstGeom prst="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1_home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25880"/>
            <a:ext cx="5074920" cy="3383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41248" y="1325880"/>
            <a:ext cx="5074920" cy="3383280"/>
          </a:xfrm>
          <a:prstGeom prst="rect">
            <a:avLst/>
          </a:prstGeom>
          <a:noFill/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4800600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65F46"/>
                </a:solidFill>
                <a:latin typeface="Times New Roman"/>
              </a:rPr>
              <a:t>Figure 1: Home Page</a:t>
            </a:r>
          </a:p>
          <a:p>
            <a:r>
              <a:rPr sz="1300" b="0">
                <a:solidFill>
                  <a:srgbClr val="1F2937"/>
                </a:solidFill>
                <a:latin typeface="Times New Roman"/>
              </a:rPr>
              <a:t>Displays modern hero banner, popular brand logos carousel, featured shoes grid, and value highlights.</a:t>
            </a:r>
          </a:p>
        </p:txBody>
      </p:sp>
      <p:pic>
        <p:nvPicPr>
          <p:cNvPr id="7" name="Picture 6" descr="02_all_sho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325880"/>
            <a:ext cx="5074920" cy="3383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81928" y="1325880"/>
            <a:ext cx="5074920" cy="3383280"/>
          </a:xfrm>
          <a:prstGeom prst="rect">
            <a:avLst/>
          </a:prstGeom>
          <a:noFill/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81928" y="4800600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65F46"/>
                </a:solidFill>
                <a:latin typeface="Times New Roman"/>
              </a:rPr>
              <a:t>Figure 2: All Shoes Catalog Page</a:t>
            </a:r>
          </a:p>
          <a:p>
            <a:r>
              <a:rPr sz="1300" b="0">
                <a:solidFill>
                  <a:srgbClr val="1F2937"/>
                </a:solidFill>
                <a:latin typeface="Times New Roman"/>
              </a:rPr>
              <a:t>Displays entire footwear collection with brand filters (Nike, Adidas), category badges, and price sorting.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6327648"/>
            <a:ext cx="10515600" cy="13716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Times New Roman"/>
              </a:rPr>
              <a:t>Page 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364224"/>
            <a:ext cx="5788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Times New Roman"/>
              </a:rPr>
              <a:t>Sascma English Medium College BCA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08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F2937"/>
                </a:solidFill>
                <a:latin typeface="Times New Roman"/>
              </a:rPr>
              <a:t>Group No.: 129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3657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5F46"/>
                </a:solidFill>
                <a:latin typeface="Times New Roman"/>
              </a:rPr>
              <a:t>User Interface: Shoe Details &amp; Size Selection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170432"/>
            <a:ext cx="10515600" cy="36576"/>
          </a:xfrm>
          <a:prstGeom prst="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3_product_detai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25880"/>
            <a:ext cx="5074920" cy="3383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41248" y="1325880"/>
            <a:ext cx="5074920" cy="3383280"/>
          </a:xfrm>
          <a:prstGeom prst="rect">
            <a:avLst/>
          </a:prstGeom>
          <a:noFill/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4800600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65F46"/>
                </a:solidFill>
                <a:latin typeface="Times New Roman"/>
              </a:rPr>
              <a:t>Figure 3: Product Details &amp; UK Sizing</a:t>
            </a:r>
          </a:p>
          <a:p>
            <a:r>
              <a:rPr sz="1300" b="0">
                <a:solidFill>
                  <a:srgbClr val="1F2937"/>
                </a:solidFill>
                <a:latin typeface="Times New Roman"/>
              </a:rPr>
              <a:t>Shows high-resolution shoe imagery, detailed descriptions, and interactive UK size buttons (6 to 11).</a:t>
            </a:r>
          </a:p>
        </p:txBody>
      </p:sp>
      <p:pic>
        <p:nvPicPr>
          <p:cNvPr id="7" name="Picture 6" descr="10_about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325880"/>
            <a:ext cx="5074920" cy="3383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81928" y="1325880"/>
            <a:ext cx="5074920" cy="3383280"/>
          </a:xfrm>
          <a:prstGeom prst="rect">
            <a:avLst/>
          </a:prstGeom>
          <a:noFill/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81928" y="4800600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65F46"/>
                </a:solidFill>
                <a:latin typeface="Times New Roman"/>
              </a:rPr>
              <a:t>Figure 4: About Us Store Page</a:t>
            </a:r>
          </a:p>
          <a:p>
            <a:r>
              <a:rPr sz="1300" b="0">
                <a:solidFill>
                  <a:srgbClr val="1F2937"/>
                </a:solidFill>
                <a:latin typeface="Times New Roman"/>
              </a:rPr>
              <a:t>Presents store heritage, quality footwear assurance, brand partnerships, and customer support standards.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6327648"/>
            <a:ext cx="10515600" cy="13716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Times New Roman"/>
              </a:rPr>
              <a:t>Page 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364224"/>
            <a:ext cx="5788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Times New Roman"/>
              </a:rPr>
              <a:t>Sascma English Medium College BCA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08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F2937"/>
                </a:solidFill>
                <a:latin typeface="Times New Roman"/>
              </a:rPr>
              <a:t>Group No.: 129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3657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5F46"/>
                </a:solidFill>
                <a:latin typeface="Times New Roman"/>
              </a:rPr>
              <a:t>User Interface: Shopping Cart &amp; Checkout Form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170432"/>
            <a:ext cx="10515600" cy="36576"/>
          </a:xfrm>
          <a:prstGeom prst="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4_cart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25880"/>
            <a:ext cx="5074920" cy="3383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41248" y="1325880"/>
            <a:ext cx="5074920" cy="3383280"/>
          </a:xfrm>
          <a:prstGeom prst="rect">
            <a:avLst/>
          </a:prstGeom>
          <a:noFill/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4800600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65F46"/>
                </a:solidFill>
                <a:latin typeface="Times New Roman"/>
              </a:rPr>
              <a:t>Figure 5: Responsive Shopping Cart</a:t>
            </a:r>
          </a:p>
          <a:p>
            <a:r>
              <a:rPr sz="1300" b="0">
                <a:solidFill>
                  <a:srgbClr val="1F2937"/>
                </a:solidFill>
                <a:latin typeface="Times New Roman"/>
              </a:rPr>
              <a:t>Displays chosen shoes with selected UK size badge, quantity controls, price subtotal, and tax summary.</a:t>
            </a:r>
          </a:p>
        </p:txBody>
      </p:sp>
      <p:pic>
        <p:nvPicPr>
          <p:cNvPr id="7" name="Picture 6" descr="05_checkout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325880"/>
            <a:ext cx="5074920" cy="3383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81928" y="1325880"/>
            <a:ext cx="5074920" cy="3383280"/>
          </a:xfrm>
          <a:prstGeom prst="rect">
            <a:avLst/>
          </a:prstGeom>
          <a:noFill/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81928" y="4800600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65F46"/>
                </a:solidFill>
                <a:latin typeface="Times New Roman"/>
              </a:rPr>
              <a:t>Figure 6: Delivery Checkout &amp; Payment</a:t>
            </a:r>
          </a:p>
          <a:p>
            <a:r>
              <a:rPr sz="1300" b="0">
                <a:solidFill>
                  <a:srgbClr val="1F2937"/>
                </a:solidFill>
                <a:latin typeface="Times New Roman"/>
              </a:rPr>
              <a:t>Collects customer shipping address and triggers the official Razorpay test checkout modal.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6327648"/>
            <a:ext cx="10515600" cy="13716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Times New Roman"/>
              </a:rPr>
              <a:t>Page 13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364224"/>
            <a:ext cx="5788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Times New Roman"/>
              </a:rPr>
              <a:t>Sascma English Medium College BCA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08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F2937"/>
                </a:solidFill>
                <a:latin typeface="Times New Roman"/>
              </a:rPr>
              <a:t>Group No.: 129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3657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5F46"/>
                </a:solidFill>
                <a:latin typeface="Times New Roman"/>
              </a:rPr>
              <a:t>User Interface: Customer Login &amp; Registration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170432"/>
            <a:ext cx="10515600" cy="36576"/>
          </a:xfrm>
          <a:prstGeom prst="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06_login_p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25880"/>
            <a:ext cx="5074920" cy="3383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41248" y="1325880"/>
            <a:ext cx="5074920" cy="3383280"/>
          </a:xfrm>
          <a:prstGeom prst="rect">
            <a:avLst/>
          </a:prstGeom>
          <a:noFill/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4800600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65F46"/>
                </a:solidFill>
                <a:latin typeface="Times New Roman"/>
              </a:rPr>
              <a:t>Figure 7: Customer Login with CAPTCHA</a:t>
            </a:r>
          </a:p>
          <a:p>
            <a:r>
              <a:rPr sz="1300" b="0">
                <a:solidFill>
                  <a:srgbClr val="1F2937"/>
                </a:solidFill>
                <a:latin typeface="Times New Roman"/>
              </a:rPr>
              <a:t>Secure login form featuring mathematical security CAPTCHA to prevent automated bot login attempts.</a:t>
            </a:r>
          </a:p>
        </p:txBody>
      </p:sp>
      <p:pic>
        <p:nvPicPr>
          <p:cNvPr id="7" name="Picture 6" descr="07_register_p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325880"/>
            <a:ext cx="5074920" cy="3383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81928" y="1325880"/>
            <a:ext cx="5074920" cy="3383280"/>
          </a:xfrm>
          <a:prstGeom prst="rect">
            <a:avLst/>
          </a:prstGeom>
          <a:noFill/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81928" y="4800600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65F46"/>
                </a:solidFill>
                <a:latin typeface="Times New Roman"/>
              </a:rPr>
              <a:t>Figure 8: Customer Registration Form</a:t>
            </a:r>
          </a:p>
          <a:p>
            <a:r>
              <a:rPr sz="1300" b="0">
                <a:solidFill>
                  <a:srgbClr val="1F2937"/>
                </a:solidFill>
                <a:latin typeface="Times New Roman"/>
              </a:rPr>
              <a:t>Customer sign-up interface collecting name, email, phone, password, and CAPTCHA validation.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6327648"/>
            <a:ext cx="10515600" cy="13716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Times New Roman"/>
              </a:rPr>
              <a:t>Page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364224"/>
            <a:ext cx="5788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Times New Roman"/>
              </a:rPr>
              <a:t>Sascma English Medium College BCA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08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F2937"/>
                </a:solidFill>
                <a:latin typeface="Times New Roman"/>
              </a:rPr>
              <a:t>Group No.: 129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3657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5F46"/>
                </a:solidFill>
                <a:latin typeface="Times New Roman"/>
              </a:rPr>
              <a:t>User Interface: Admin Dashboard &amp; Product Controls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170432"/>
            <a:ext cx="10515600" cy="36576"/>
          </a:xfrm>
          <a:prstGeom prst="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2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25880"/>
            <a:ext cx="5074920" cy="3383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41248" y="1325880"/>
            <a:ext cx="5074920" cy="3383280"/>
          </a:xfrm>
          <a:prstGeom prst="rect">
            <a:avLst/>
          </a:prstGeom>
          <a:noFill/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4800600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65F46"/>
                </a:solidFill>
                <a:latin typeface="Times New Roman"/>
              </a:rPr>
              <a:t>Figure 9: Administrative Dashboard</a:t>
            </a:r>
          </a:p>
          <a:p>
            <a:r>
              <a:rPr sz="1300" b="0">
                <a:solidFill>
                  <a:srgbClr val="1F2937"/>
                </a:solidFill>
                <a:latin typeface="Times New Roman"/>
              </a:rPr>
              <a:t>Overview screen presenting total sales metrics, order counts, product inventory summary, and quick links.</a:t>
            </a:r>
          </a:p>
        </p:txBody>
      </p:sp>
      <p:pic>
        <p:nvPicPr>
          <p:cNvPr id="7" name="Picture 6" descr="15_admin_produc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325880"/>
            <a:ext cx="5074920" cy="3383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81928" y="1325880"/>
            <a:ext cx="5074920" cy="3383280"/>
          </a:xfrm>
          <a:prstGeom prst="rect">
            <a:avLst/>
          </a:prstGeom>
          <a:noFill/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81928" y="4800600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65F46"/>
                </a:solidFill>
                <a:latin typeface="Times New Roman"/>
              </a:rPr>
              <a:t>Figure 10: Shoe Products Inventory Table</a:t>
            </a:r>
          </a:p>
          <a:p>
            <a:r>
              <a:rPr sz="1300" b="0">
                <a:solidFill>
                  <a:srgbClr val="1F2937"/>
                </a:solidFill>
                <a:latin typeface="Times New Roman"/>
              </a:rPr>
              <a:t>Allows store managers to add new footwear models, adjust pricing, upload images, and control stock availability.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6327648"/>
            <a:ext cx="10515600" cy="13716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Times New Roman"/>
              </a:rPr>
              <a:t>Page 15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364224"/>
            <a:ext cx="5788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Times New Roman"/>
              </a:rPr>
              <a:t>Sascma English Medium College BCA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08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F2937"/>
                </a:solidFill>
                <a:latin typeface="Times New Roman"/>
              </a:rPr>
              <a:t>Group No.: 129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3657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5F46"/>
                </a:solidFill>
                <a:latin typeface="Times New Roman"/>
              </a:rPr>
              <a:t>User Interface: Order Management &amp; Review Moderation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170432"/>
            <a:ext cx="10515600" cy="36576"/>
          </a:xfrm>
          <a:prstGeom prst="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16_admin_ord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325880"/>
            <a:ext cx="5074920" cy="33832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841248" y="1325880"/>
            <a:ext cx="5074920" cy="3383280"/>
          </a:xfrm>
          <a:prstGeom prst="rect">
            <a:avLst/>
          </a:prstGeom>
          <a:noFill/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4800600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65F46"/>
                </a:solidFill>
                <a:latin typeface="Times New Roman"/>
              </a:rPr>
              <a:t>Figure 11: Admin Orders Management</a:t>
            </a:r>
          </a:p>
          <a:p>
            <a:r>
              <a:rPr sz="1300" b="0">
                <a:solidFill>
                  <a:srgbClr val="1F2937"/>
                </a:solidFill>
                <a:latin typeface="Times New Roman"/>
              </a:rPr>
              <a:t>Displays all customer orders, delivery addresses, payment status, and order status update dropdowns.</a:t>
            </a:r>
          </a:p>
        </p:txBody>
      </p:sp>
      <p:pic>
        <p:nvPicPr>
          <p:cNvPr id="7" name="Picture 6" descr="19_admin_review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928" y="1325880"/>
            <a:ext cx="5074920" cy="338328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281928" y="1325880"/>
            <a:ext cx="5074920" cy="3383280"/>
          </a:xfrm>
          <a:prstGeom prst="rect">
            <a:avLst/>
          </a:prstGeom>
          <a:noFill/>
          <a:ln w="15240"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81928" y="4800600"/>
            <a:ext cx="507492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65F46"/>
                </a:solidFill>
                <a:latin typeface="Times New Roman"/>
              </a:rPr>
              <a:t>Figure 12: Customer Review Moderation</a:t>
            </a:r>
          </a:p>
          <a:p>
            <a:r>
              <a:rPr sz="1300" b="0">
                <a:solidFill>
                  <a:srgbClr val="1F2937"/>
                </a:solidFill>
                <a:latin typeface="Times New Roman"/>
              </a:rPr>
              <a:t>Enables administrators to view star ratings, monitor customer feedback, and moderate published shoe reviews.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1248" y="6327648"/>
            <a:ext cx="10515600" cy="13716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Times New Roman"/>
              </a:rPr>
              <a:t>Page 16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6364224"/>
            <a:ext cx="5788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Times New Roman"/>
              </a:rPr>
              <a:t>Sascma English Medium College BCA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708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F2937"/>
                </a:solidFill>
                <a:latin typeface="Times New Roman"/>
              </a:rPr>
              <a:t>Group No.: 129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3657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5F46"/>
                </a:solidFill>
                <a:latin typeface="Times New Roman"/>
              </a:rPr>
              <a:t>Limitation &amp; System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170432"/>
            <a:ext cx="10515600" cy="36576"/>
          </a:xfrm>
          <a:prstGeom prst="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371600"/>
            <a:ext cx="512064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>
                <a:solidFill>
                  <a:srgbClr val="065F46"/>
                </a:solidFill>
                <a:latin typeface="Times New Roman"/>
              </a:rPr>
              <a:t>SYSTEM LIMITATIONS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65F46"/>
                </a:solidFill>
                <a:latin typeface="Times New Roman"/>
              </a:rPr>
              <a:t>Single Currency Operations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Transactions and pricing are strictly denominated in Indian Rupees (INR — ₹); international currency conversion is not supported.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65F46"/>
                </a:solidFill>
                <a:latin typeface="Times New Roman"/>
              </a:rPr>
              <a:t>Single Vendor Architecture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Designed for a single shoe store business; multi-vendor merchant onboarding is not currently supported.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65F46"/>
                </a:solidFill>
                <a:latin typeface="Times New Roman"/>
              </a:rPr>
              <a:t>Email Notification Scope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Order receipts are displayed in the app and stored in MongoDB; automated SMTP / Nodemailer email alerts are pending.</a:t>
            </a:r>
          </a:p>
          <a:p>
            <a:pPr>
              <a:spcAft>
                <a:spcPts val="800"/>
              </a:spcAft>
            </a:pPr>
            <a:r>
              <a:rPr sz="1800" b="1">
                <a:solidFill>
                  <a:srgbClr val="065F46"/>
                </a:solidFill>
                <a:latin typeface="Times New Roman"/>
              </a:rPr>
              <a:t>Standard Sizing Scope</a:t>
            </a:r>
          </a:p>
          <a:p>
            <a:pPr>
              <a:spcAft>
                <a:spcPts val="800"/>
              </a:spcAft>
            </a:pPr>
            <a:r>
              <a:rPr sz="1600" b="0">
                <a:solidFill>
                  <a:srgbClr val="1F2937"/>
                </a:solidFill>
                <a:latin typeface="Times New Roman"/>
              </a:rPr>
              <a:t>Offers standard UK shoe sizes (6 to 11) without interactive camera-based foot 3D scanning tools.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36208" y="1371600"/>
            <a:ext cx="5120640" cy="48115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 dirty="0">
                <a:solidFill>
                  <a:srgbClr val="065F46"/>
                </a:solidFill>
                <a:latin typeface="Times New Roman"/>
              </a:rPr>
              <a:t>FUTURE SYSTEM ENHANCEMENTS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65F46"/>
                </a:solidFill>
                <a:latin typeface="Times New Roman"/>
              </a:rPr>
              <a:t>Automated Email &amp; SMS Dispatch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F2937"/>
                </a:solidFill>
                <a:latin typeface="Times New Roman"/>
              </a:rPr>
              <a:t>Integrating </a:t>
            </a:r>
            <a:r>
              <a:rPr sz="1400" b="1" dirty="0" err="1">
                <a:solidFill>
                  <a:srgbClr val="1F2937"/>
                </a:solidFill>
                <a:latin typeface="Times New Roman"/>
              </a:rPr>
              <a:t>Nodemailer</a:t>
            </a:r>
            <a:r>
              <a:rPr sz="1400" b="1" dirty="0">
                <a:solidFill>
                  <a:srgbClr val="1F2937"/>
                </a:solidFill>
                <a:latin typeface="Times New Roman"/>
              </a:rPr>
              <a:t> and SMS APIs (such as Twilio) to send automatic dispatch tracking numbers and delivery alerts.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65F46"/>
                </a:solidFill>
                <a:latin typeface="Times New Roman"/>
              </a:rPr>
              <a:t>Interactive Foot Size Advisor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F2937"/>
                </a:solidFill>
                <a:latin typeface="Times New Roman"/>
              </a:rPr>
              <a:t>Introducing a foot length measurement calculator to guide customers to their ideal size and reduce return rates.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65F46"/>
                </a:solidFill>
                <a:latin typeface="Times New Roman"/>
              </a:rPr>
              <a:t>Customer Return &amp; Refund Portal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F2937"/>
                </a:solidFill>
                <a:latin typeface="Times New Roman"/>
              </a:rPr>
              <a:t>Adding a dedicated customer portal for return requests with administrator approval workflows.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65F46"/>
                </a:solidFill>
                <a:latin typeface="Times New Roman"/>
              </a:rPr>
              <a:t>Promotional Coupon Code Engine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F2937"/>
                </a:solidFill>
                <a:latin typeface="Times New Roman"/>
              </a:rPr>
              <a:t>Enabling administrators to create seasonal discount coupon promo codes with expiry dates.</a:t>
            </a:r>
          </a:p>
          <a:p>
            <a:pPr>
              <a:spcAft>
                <a:spcPts val="800"/>
              </a:spcAft>
            </a:pPr>
            <a:r>
              <a:rPr sz="1600" b="1" dirty="0">
                <a:solidFill>
                  <a:srgbClr val="065F46"/>
                </a:solidFill>
                <a:latin typeface="Times New Roman"/>
              </a:rPr>
              <a:t>Progressive Web App (PWA)</a:t>
            </a:r>
          </a:p>
          <a:p>
            <a:pPr>
              <a:spcAft>
                <a:spcPts val="800"/>
              </a:spcAft>
            </a:pPr>
            <a:r>
              <a:rPr sz="1400" b="1" dirty="0">
                <a:solidFill>
                  <a:srgbClr val="1F2937"/>
                </a:solidFill>
                <a:latin typeface="Times New Roman"/>
              </a:rPr>
              <a:t>Configuring service workers for offline catalog caching and installable mobile app experience on smartphones.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6327648"/>
            <a:ext cx="10515600" cy="13716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412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Times New Roman"/>
              </a:rPr>
              <a:t>Page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364224"/>
            <a:ext cx="5788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Times New Roman"/>
              </a:rPr>
              <a:t>Sascma English Medium College BCA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708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F2937"/>
                </a:solidFill>
                <a:latin typeface="Times New Roman"/>
              </a:rPr>
              <a:t>Group No.: 129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3657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5F46"/>
                </a:solidFill>
                <a:latin typeface="Times New Roman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170432"/>
            <a:ext cx="10515600" cy="36576"/>
          </a:xfrm>
          <a:prstGeom prst="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1">
                <a:solidFill>
                  <a:srgbClr val="065F46"/>
                </a:solidFill>
                <a:latin typeface="Times New Roman"/>
              </a:rPr>
              <a:t>Successful MERN Stack Deployment: </a:t>
            </a:r>
            <a:r>
              <a:rPr sz="1800" b="0">
                <a:solidFill>
                  <a:srgbClr val="1F2937"/>
                </a:solidFill>
                <a:latin typeface="Times New Roman"/>
              </a:rPr>
              <a:t>The Online Shoes Website (StepUp Footwear) successfully demonstrates a modern, scalable full-stack e-commerce Single Page Application.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65F46"/>
                </a:solidFill>
                <a:latin typeface="Times New Roman"/>
              </a:rPr>
              <a:t>Effective Sizing Problem Solution: </a:t>
            </a:r>
            <a:r>
              <a:rPr sz="1800" b="0">
                <a:solidFill>
                  <a:srgbClr val="1F2937"/>
                </a:solidFill>
                <a:latin typeface="Times New Roman"/>
              </a:rPr>
              <a:t>Effectively addressed the primary problem in online footwear retail through explicit UK size selection integrated into the CartContext.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65F46"/>
                </a:solidFill>
                <a:latin typeface="Times New Roman"/>
              </a:rPr>
              <a:t>Robust Backend Architecture: </a:t>
            </a:r>
            <a:r>
              <a:rPr sz="1800" b="0">
                <a:solidFill>
                  <a:srgbClr val="1F2937"/>
                </a:solidFill>
                <a:latin typeface="Times New Roman"/>
              </a:rPr>
              <a:t>Demonstrated RESTful API design with Express.js, JWT authentication, Bcrypt security, and NoSQL document modeling in MongoDB.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65F46"/>
                </a:solidFill>
                <a:latin typeface="Times New Roman"/>
              </a:rPr>
              <a:t>Intuitive User Experience: </a:t>
            </a:r>
            <a:r>
              <a:rPr sz="1800" b="0">
                <a:solidFill>
                  <a:srgbClr val="1F2937"/>
                </a:solidFill>
                <a:latin typeface="Times New Roman"/>
              </a:rPr>
              <a:t>Achieved instantaneous client-side navigation, interactive filters, CAPTCHA security, and simulated Razorpay payment.</a:t>
            </a:r>
          </a:p>
          <a:p>
            <a:pPr>
              <a:spcAft>
                <a:spcPts val="1000"/>
              </a:spcAft>
            </a:pPr>
            <a:r>
              <a:rPr sz="1800" b="1">
                <a:solidFill>
                  <a:srgbClr val="065F46"/>
                </a:solidFill>
                <a:latin typeface="Times New Roman"/>
              </a:rPr>
              <a:t>Academic Competency: </a:t>
            </a:r>
            <a:r>
              <a:rPr sz="1800" b="0">
                <a:solidFill>
                  <a:srgbClr val="1F2937"/>
                </a:solidFill>
                <a:latin typeface="Times New Roman"/>
              </a:rPr>
              <a:t>Provided hands-on mastery of modern web architecture and Advance Web Designing (AWD) principles taught in BCA Semester 5.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6327648"/>
            <a:ext cx="10515600" cy="13716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Times New Roman"/>
              </a:rPr>
              <a:t>Page 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64224"/>
            <a:ext cx="5788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Times New Roman"/>
              </a:rPr>
              <a:t>Sascma English Medium College BCA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708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F2937"/>
                </a:solidFill>
                <a:latin typeface="Times New Roman"/>
              </a:rPr>
              <a:t>Group No.: 129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41248" y="365760"/>
            <a:ext cx="10515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65F46"/>
                </a:solidFill>
                <a:latin typeface="Times New Roman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841248" y="1170432"/>
            <a:ext cx="10515600" cy="36576"/>
          </a:xfrm>
          <a:prstGeom prst="rect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41248" y="1371600"/>
            <a:ext cx="10515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1" dirty="0">
                <a:solidFill>
                  <a:srgbClr val="065F46"/>
                </a:solidFill>
                <a:latin typeface="Times New Roman"/>
              </a:rPr>
              <a:t>Textbooks &amp; Academic References: 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1F2937"/>
                </a:solidFill>
                <a:latin typeface="Times New Roman"/>
              </a:rPr>
              <a:t>• Alex Banks and Eve Porcello, 'Learning React: Modern Patterns for Developing React Apps', 2nd Edition, O'Reilly Media, 2020.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1F2937"/>
                </a:solidFill>
                <a:latin typeface="Times New Roman"/>
              </a:rPr>
              <a:t>• Greg Lim, 'Beginning Node.js, Express &amp; MongoDB Development', Independently Published, 2021.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1F2937"/>
                </a:solidFill>
                <a:latin typeface="Times New Roman"/>
              </a:rPr>
              <a:t>• Robin Nixon, 'Learning PHP, MySQL &amp; JavaScript: With jQuery, CSS &amp; HTML5', 6th Edition, O'Reilly Media, 2021.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1F2937"/>
                </a:solidFill>
                <a:latin typeface="Times New Roman"/>
              </a:rPr>
              <a:t>• Roger S. Pressman, 'Software Engineering: A Practitioner's Approach', 8th Edition, McGraw-Hill Education, 2014.</a:t>
            </a:r>
          </a:p>
          <a:p>
            <a:pPr>
              <a:spcAft>
                <a:spcPts val="1000"/>
              </a:spcAft>
            </a:pPr>
            <a:r>
              <a:rPr sz="1600" b="1" dirty="0">
                <a:solidFill>
                  <a:srgbClr val="065F46"/>
                </a:solidFill>
                <a:latin typeface="Times New Roman"/>
              </a:rPr>
              <a:t>Official Documentation &amp; Online Resources: 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1F2937"/>
                </a:solidFill>
                <a:latin typeface="Times New Roman"/>
              </a:rPr>
              <a:t>• React.js Official Documentation: https://react.dev/ — Components, hooks (</a:t>
            </a:r>
            <a:r>
              <a:rPr sz="1600" b="0" dirty="0" err="1">
                <a:solidFill>
                  <a:srgbClr val="1F2937"/>
                </a:solidFill>
                <a:latin typeface="Times New Roman"/>
              </a:rPr>
              <a:t>useState</a:t>
            </a:r>
            <a:r>
              <a:rPr sz="1600" b="0" dirty="0">
                <a:solidFill>
                  <a:srgbClr val="1F2937"/>
                </a:solidFill>
                <a:latin typeface="Times New Roman"/>
              </a:rPr>
              <a:t>, </a:t>
            </a:r>
            <a:r>
              <a:rPr sz="1600" b="0" dirty="0" err="1">
                <a:solidFill>
                  <a:srgbClr val="1F2937"/>
                </a:solidFill>
                <a:latin typeface="Times New Roman"/>
              </a:rPr>
              <a:t>useEffect</a:t>
            </a:r>
            <a:r>
              <a:rPr sz="1600" b="0" dirty="0">
                <a:solidFill>
                  <a:srgbClr val="1F2937"/>
                </a:solidFill>
                <a:latin typeface="Times New Roman"/>
              </a:rPr>
              <a:t>, </a:t>
            </a:r>
            <a:r>
              <a:rPr sz="1600" b="0" dirty="0" err="1">
                <a:solidFill>
                  <a:srgbClr val="1F2937"/>
                </a:solidFill>
                <a:latin typeface="Times New Roman"/>
              </a:rPr>
              <a:t>useContext</a:t>
            </a:r>
            <a:r>
              <a:rPr sz="1600" b="0" dirty="0">
                <a:solidFill>
                  <a:srgbClr val="1F2937"/>
                </a:solidFill>
                <a:latin typeface="Times New Roman"/>
              </a:rPr>
              <a:t>), and JSX syntax.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1F2937"/>
                </a:solidFill>
                <a:latin typeface="Times New Roman"/>
              </a:rPr>
              <a:t>• Node.js &amp; Express.js Documentation: https://nodejs.org/ and https://expressjs.com/ — Server runtime and REST APIs.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1F2937"/>
                </a:solidFill>
                <a:latin typeface="Times New Roman"/>
              </a:rPr>
              <a:t>• MongoDB &amp; Mongoose Documentation: https://www.mongodb.com/docs/ and https://mongoosejs.com/docs/ — NoSQL schemas.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1F2937"/>
                </a:solidFill>
                <a:latin typeface="Times New Roman"/>
              </a:rPr>
              <a:t>• </a:t>
            </a:r>
            <a:r>
              <a:rPr sz="1600" b="0" dirty="0" err="1">
                <a:solidFill>
                  <a:srgbClr val="1F2937"/>
                </a:solidFill>
                <a:latin typeface="Times New Roman"/>
              </a:rPr>
              <a:t>Razorpay</a:t>
            </a:r>
            <a:r>
              <a:rPr sz="1600" b="0" dirty="0">
                <a:solidFill>
                  <a:srgbClr val="1F2937"/>
                </a:solidFill>
                <a:latin typeface="Times New Roman"/>
              </a:rPr>
              <a:t> Payments Documentation: https://razorpay.com/docs/ — Standard checkout modal integration.</a:t>
            </a:r>
          </a:p>
          <a:p>
            <a:pPr>
              <a:spcAft>
                <a:spcPts val="1000"/>
              </a:spcAft>
            </a:pPr>
            <a:r>
              <a:rPr sz="1600" b="0" dirty="0">
                <a:solidFill>
                  <a:srgbClr val="1F2937"/>
                </a:solidFill>
                <a:latin typeface="Times New Roman"/>
              </a:rPr>
              <a:t>• MDN Web Docs (Mozilla Developer Network): https://developer.mozilla.org/ — Modern HTML5, CSS3, and JavaScript standards.</a:t>
            </a:r>
          </a:p>
        </p:txBody>
      </p:sp>
      <p:sp>
        <p:nvSpPr>
          <p:cNvPr id="5" name="Rectangle 4"/>
          <p:cNvSpPr/>
          <p:nvPr/>
        </p:nvSpPr>
        <p:spPr>
          <a:xfrm>
            <a:off x="841248" y="6327648"/>
            <a:ext cx="10515600" cy="13716"/>
          </a:xfrm>
          <a:prstGeom prst="rect">
            <a:avLst/>
          </a:prstGeom>
          <a:solidFill>
            <a:srgbClr val="D1D5DB"/>
          </a:solidFill>
          <a:ln>
            <a:solidFill>
              <a:srgbClr val="D1D5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412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B5563"/>
                </a:solidFill>
                <a:latin typeface="Times New Roman"/>
              </a:rPr>
              <a:t>Page 19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364224"/>
            <a:ext cx="57881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Times New Roman"/>
              </a:rPr>
              <a:t>Sascma English Medium College BCA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70848" y="636422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1F2937"/>
                </a:solidFill>
                <a:latin typeface="Times New Roman"/>
              </a:rPr>
              <a:t>Group No.: 129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468880"/>
            <a:ext cx="1036015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dirty="0">
                <a:latin typeface="Times New Roman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2238</Words>
  <Application>Microsoft Office PowerPoint</Application>
  <PresentationFormat>Widescreen</PresentationFormat>
  <Paragraphs>357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Arial</vt:lpstr>
      <vt:lpstr>Calibri</vt:lpstr>
      <vt:lpstr>Calibri Light</vt:lpstr>
      <vt:lpstr>Times New Roman</vt:lpstr>
      <vt:lpstr>Office Theme</vt:lpstr>
      <vt:lpstr>ONLINE SHOES WEBSITE (StepUp Footwear)</vt:lpstr>
      <vt:lpstr>Content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creator>admin</dc:creator>
  <cp:lastModifiedBy>Swastik Traders</cp:lastModifiedBy>
  <cp:revision>12</cp:revision>
  <dcterms:created xsi:type="dcterms:W3CDTF">2025-03-29T05:17:27Z</dcterms:created>
  <dcterms:modified xsi:type="dcterms:W3CDTF">2026-09-20T12:45:50Z</dcterms:modified>
</cp:coreProperties>
</file>